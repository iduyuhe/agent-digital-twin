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4754880" cy="4754880"/>
          </a:xfrm>
          <a:prstGeom prst="ellipse">
            <a:avLst/>
          </a:prstGeom>
          <a:solidFill>
            <a:srgbClr val="2563EB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840480"/>
            <a:ext cx="3291840" cy="3291840"/>
          </a:xfrm>
          <a:prstGeom prst="ellipse">
            <a:avLst/>
          </a:prstGeom>
          <a:solidFill>
            <a:srgbClr val="0EA5E9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34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EA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 立项评审 · 智能数字孪生系统建设项目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04672" y="17830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智能数字孪生系统建设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2926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 需求规格与标准符合性基线 · 评审汇报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3886200"/>
            <a:ext cx="2082546" cy="420624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886200"/>
            <a:ext cx="208254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 OGG 几何内核（锁定）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79826" y="3886200"/>
            <a:ext cx="2224278" cy="420624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/>
        </p:spPr>
      </p:sp>
      <p:sp>
        <p:nvSpPr>
          <p:cNvPr id="10" name="Text 8"/>
          <p:cNvSpPr/>
          <p:nvPr/>
        </p:nvSpPr>
        <p:spPr>
          <a:xfrm>
            <a:off x="3179826" y="3886200"/>
            <a:ext cx="22242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通用 MAS 接口（解耦）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" y="3886200"/>
            <a:ext cx="2153412" cy="420624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886200"/>
            <a:ext cx="21534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装备 · 车间 · 工厂级全覆盖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50692" y="3886200"/>
            <a:ext cx="2153412" cy="420624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/>
        </p:spPr>
      </p:sp>
      <p:sp>
        <p:nvSpPr>
          <p:cNvPr id="14" name="Text 12"/>
          <p:cNvSpPr/>
          <p:nvPr/>
        </p:nvSpPr>
        <p:spPr>
          <a:xfrm>
            <a:off x="3250692" y="3886200"/>
            <a:ext cx="21534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对标 GB/T 国标 · CESI 测评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521208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日期：2026-08-07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汇报人：杜玉河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配套文档：P0 需求规格与标准符合性基线 v1.0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28016" cy="8686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会议导览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71323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评审议程（建议 60 分钟）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247120" y="457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6419088"/>
            <a:ext cx="111831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智能数字孪生系统建设项目 · P0 立项评审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" y="14173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会上聚焦三件事：确认四项固化要素、拍板六项待确认项、签署基线；签署即触发 P1。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011680"/>
          <a:ext cx="1118311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4754880"/>
                <a:gridCol w="1463040"/>
                <a:gridCol w="414223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环节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时长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563E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项目背景与目标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 min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共识项目定位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563E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技术路线与五元架构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 min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认可技术选型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563E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标准符合性规划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 min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认可对标口径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563E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量化验收基线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 min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认可签约条款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待确认项拍板 + 基线签署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 min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签署生效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563E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 启动安排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 min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排期与资源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28016" cy="8686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一页纸结论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71323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四项固化要素（评审可直接确认）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247120" y="457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6419088"/>
            <a:ext cx="111831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智能数字孪生系统建设项目 · P0 立项评审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600200"/>
            <a:ext cx="54864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58952" y="1856232"/>
            <a:ext cx="566928" cy="5669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758952" y="18562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187452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目标场景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256032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装备 + 车间 + 工厂级（新建验证 + 存量优化双场景），覆盖“装备—车间—工厂”三层。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99632" y="1600200"/>
            <a:ext cx="54864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55664" y="1856232"/>
            <a:ext cx="566928" cy="566928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5" name="Text 13"/>
          <p:cNvSpPr/>
          <p:nvPr/>
        </p:nvSpPr>
        <p:spPr>
          <a:xfrm>
            <a:off x="6455664" y="18562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159752" y="187452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技术路线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73952" y="256032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OGG 几何内核（锁定）+ Agent 通用 MAS 接口（解耦）+ 仿真保真层 + 实时数据底座 + 模型验证体系。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3886200"/>
            <a:ext cx="54864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58952" y="4142232"/>
            <a:ext cx="566928" cy="566928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20" name="Text 18"/>
          <p:cNvSpPr/>
          <p:nvPr/>
        </p:nvSpPr>
        <p:spPr>
          <a:xfrm>
            <a:off x="758952" y="41422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63040" y="416052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保真等级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77240" y="484632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瞄准“高保真”二级 / 三级（依招标要求锁定，会上待确认）。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99632" y="3886200"/>
            <a:ext cx="54864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55664" y="4142232"/>
            <a:ext cx="566928" cy="5669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6455664" y="41422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159752" y="416052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验收基线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473952" y="484632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几何 ≤0.5mm · 仿真 ≤±0.5% · 同步 ≤200ms（行业标尺，非强制）+ 工厂级指标 / 预测精度（测评定）。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28016" cy="8686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为什么做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71323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项目背景与政策牵引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247120" y="457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6419088"/>
            <a:ext cx="111831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智能数字孪生系统建设项目 · P0 立项评审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645920"/>
            <a:ext cx="11183112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1645920"/>
            <a:ext cx="128016" cy="1325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184708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政策牵引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291840" y="1783080"/>
            <a:ext cx="8138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数字孪生已列入智能制造标准体系，工信部多份国标于 2025 年密集落地，行业进入“可测评、可认证”阶段。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3127248"/>
            <a:ext cx="11183112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3127248"/>
            <a:ext cx="128016" cy="1325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328416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标准落地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291840" y="3264408"/>
            <a:ext cx="8138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GB/T 45626-2025（装备）、GB/T 45873-2025（车间/工厂）、GB/T 43441 系列（通用要求）构成装备—车间—工厂完整标准栈。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4608576"/>
            <a:ext cx="11183112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4608576"/>
            <a:ext cx="128016" cy="1325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809744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自主可控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291840" y="4745736"/>
            <a:ext cx="8138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几何内核锚定国产开源 OGG（华为，BSD，替代 OCCT），智能层用通用 MAS 接口解耦，规避底层与 AI 双重锁定。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28016" cy="8686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目标定位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71323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总体目标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247120" y="457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6419088"/>
            <a:ext cx="111831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智能数字孪生系统建设项目 · P0 立项评审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645920"/>
            <a:ext cx="11183112" cy="1554480"/>
          </a:xfrm>
          <a:prstGeom prst="roundRect">
            <a:avLst>
              <a:gd name="adj" fmla="val 5882"/>
            </a:avLst>
          </a:prstGeom>
          <a:solidFill>
            <a:srgbClr val="0F172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78308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建成覆盖</a:t>
            </a:r>
            <a:pPr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EA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“装备—车间—工厂”</a:t>
            </a:r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 </a:t>
            </a:r>
            <a:pPr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自主可控、高保真、可认证</a:t>
            </a:r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智能数字孪生系统，通过 CESI 成熟度 / 可信性测评，并在标杆场景完成闭环验收。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02920" y="3474720"/>
            <a:ext cx="3602736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374904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749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554480" y="3767328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三层全覆盖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457200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装备物理仿真 + 车间孪生 + 工厂级生产系统仿真（新建与存量双场景）。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279392" y="3474720"/>
            <a:ext cx="3602736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53712" y="374904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4553712" y="3749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330952" y="3767328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高保真可认证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99432" y="457200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几何 / 仿真 / 同步 / 验证四类保真齐全，走 CESI 测评拿等级证书。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055864" y="3474720"/>
            <a:ext cx="3602736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330184" y="374904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8330184" y="3749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107424" y="3767328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闭环可落地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375904" y="457200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至少在 1 个装备 + 1 个工厂级场景完成虚拟调试 / 产能优化闭环。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28016" cy="8686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71323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五元分层架构（数据流闭环）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247120" y="457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6419088"/>
            <a:ext cx="111831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智能数字孪生系统建设项目 · P0 立项评审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920240"/>
            <a:ext cx="2011680" cy="27432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143000" y="2148840"/>
            <a:ext cx="731520" cy="7315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94360" y="3017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 OGG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349300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几何内核（锁定）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" y="416052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1605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几何保真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03881" y="1920240"/>
            <a:ext cx="2011680" cy="27432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43961" y="2148840"/>
            <a:ext cx="731520" cy="7315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7" name="Text 15"/>
          <p:cNvSpPr/>
          <p:nvPr/>
        </p:nvSpPr>
        <p:spPr>
          <a:xfrm>
            <a:off x="3343961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795321" y="3017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层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795321" y="349300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 MAS 接口（解耦）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978201" y="416052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/>
        </p:spPr>
      </p:sp>
      <p:sp>
        <p:nvSpPr>
          <p:cNvPr id="21" name="Text 19"/>
          <p:cNvSpPr/>
          <p:nvPr/>
        </p:nvSpPr>
        <p:spPr>
          <a:xfrm>
            <a:off x="2978201" y="41605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智能保真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904842" y="1920240"/>
            <a:ext cx="2011680" cy="27432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9050">
            <a:solidFill>
              <a:srgbClr val="15803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544922" y="2148840"/>
            <a:ext cx="731520" cy="731520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24" name="Text 22"/>
          <p:cNvSpPr/>
          <p:nvPr/>
        </p:nvSpPr>
        <p:spPr>
          <a:xfrm>
            <a:off x="5544922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996282" y="3017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仿真保真层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996282" y="349300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装备 CAE + 工厂级仿真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179162" y="416052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/>
        </p:spPr>
      </p:sp>
      <p:sp>
        <p:nvSpPr>
          <p:cNvPr id="28" name="Text 26"/>
          <p:cNvSpPr/>
          <p:nvPr/>
        </p:nvSpPr>
        <p:spPr>
          <a:xfrm>
            <a:off x="5179162" y="41605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仿真保真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105802" y="1920240"/>
            <a:ext cx="2011680" cy="27432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745882" y="2148840"/>
            <a:ext cx="731520" cy="7315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7745882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197242" y="3017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实时数据底座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197242" y="349300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边缘采集 + 同步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380122" y="416052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35" name="Text 33"/>
          <p:cNvSpPr/>
          <p:nvPr/>
        </p:nvSpPr>
        <p:spPr>
          <a:xfrm>
            <a:off x="7380122" y="41605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同步保真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306763" y="1920240"/>
            <a:ext cx="2011680" cy="27432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9946843" y="2148840"/>
            <a:ext cx="731520" cy="7315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8" name="Text 36"/>
          <p:cNvSpPr/>
          <p:nvPr/>
        </p:nvSpPr>
        <p:spPr>
          <a:xfrm>
            <a:off x="9946843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9398203" y="3017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模型验证体系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9398203" y="349300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标定—虚实对照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9581083" y="416052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42" name="Text 40"/>
          <p:cNvSpPr/>
          <p:nvPr/>
        </p:nvSpPr>
        <p:spPr>
          <a:xfrm>
            <a:off x="9581083" y="41605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验证保真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02920" y="4983480"/>
            <a:ext cx="11183112" cy="1051560"/>
          </a:xfrm>
          <a:prstGeom prst="roundRect">
            <a:avLst>
              <a:gd name="adj" fmla="val 695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7240" y="507492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数据流闭环：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物理实体 →（④实时采集同步）→ ①OGG 几何模型 + ③仿真模型 ←（⑤虚实对照标定）→ ②Agent 分析预测/故障诊断/决策优化 →（④反馈控制）→ 物理实体。五元件接口标准化，可独立升级替换。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28016" cy="8686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选型决策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71323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关键构件选型与边界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247120" y="457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6419088"/>
            <a:ext cx="111831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智能数字孪生系统建设项目 · P0 立项评审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45920"/>
          <a:ext cx="1118311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572000"/>
                <a:gridCol w="331927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构件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推荐选型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边界说明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① 华为 OGG 几何内核（锁定）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开源 BSD、替代 OCCT；保留 OCCT 退路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几何保真核心，自主可控锚点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② Agent 智能层（解耦）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国产 LLM（GLM/通义/DeepSeek）+ 开源框架；通用 MAS 接口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满足 GB/T 45626 诊断/预测；不锁定厂商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③ 仿真保真层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装备 CAE 国产主力（Simdroid 等）+ 工厂级引擎 POC 定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物理 + 生产系统仿真双能力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④ 实时数据底座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华为云 IoT 或自选型（边缘采集 + 同步）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承担 GB/T 43441 同步要求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⑤ 模型验证体系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自建标定—虚实对照—虚实验证流程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可信闭环，测评必查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02920" y="598932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说明：①与⑤为系统级自建/锁定项；②/③/④保持解耦、按指标选型，规避单一厂商锁定。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28016" cy="8686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合规对标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71323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标准符合性条款追踪矩阵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247120" y="457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6419088"/>
            <a:ext cx="111831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智能数字孪生系统建设项目 · P0 立项评审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45920"/>
          <a:ext cx="1118311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4206240"/>
                <a:gridCol w="2743200"/>
                <a:gridCol w="139903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核心要求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由谁承担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满足度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GB/T 43441.1-2023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通用要求：以适当速率和精度同步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④数据底座 + ①OGG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GB/T 45626-2025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装备数字孪生：几何/仿真/诊断/预测/验证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①几何 ③仿真 ②Agent ⑤验证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强（需补仿真/验证）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GB/T 45873-2025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车间/工厂孪生：生产系统仿真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③工厂级仿真引擎（新建+存量）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需补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GB/T 43441.2-2026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数字实体 · 模型精度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①OGG 几何精度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强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02920" y="598932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组件本身不等于合规——须把五元构件纳入按国标设计的完整系统，再通过 CESI 测评证明符合性。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28016" cy="8686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 · 场景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71323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目标场景：装备—车间—工厂全覆盖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247120" y="457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6419088"/>
            <a:ext cx="111831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智能数字孪生系统建设项目 · P0 立项评审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691640"/>
            <a:ext cx="3602736" cy="4206240"/>
          </a:xfrm>
          <a:prstGeom prst="roundRect">
            <a:avLst>
              <a:gd name="adj" fmla="val 2030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1691640"/>
            <a:ext cx="3602736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6916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装备级孪生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2560320"/>
            <a:ext cx="30540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几何保真 + 多物理场 CAE 仿真，支撑虚拟调试、预测性维护。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77240" y="4114800"/>
            <a:ext cx="877824" cy="402336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114800"/>
            <a:ext cx="8778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虚拟调试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77240" y="4617720"/>
            <a:ext cx="1019556" cy="402336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617720"/>
            <a:ext cx="10195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预测性维护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79392" y="1691640"/>
            <a:ext cx="3602736" cy="4206240"/>
          </a:xfrm>
          <a:prstGeom prst="roundRect">
            <a:avLst>
              <a:gd name="adj" fmla="val 2030"/>
            </a:avLst>
          </a:prstGeom>
          <a:solidFill>
            <a:srgbClr val="FFFFFF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79392" y="1691640"/>
            <a:ext cx="3602736" cy="6400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8" name="Text 16"/>
          <p:cNvSpPr/>
          <p:nvPr/>
        </p:nvSpPr>
        <p:spPr>
          <a:xfrm>
            <a:off x="4507992" y="16916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车间级孪生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53712" y="2560320"/>
            <a:ext cx="30540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产线/工位实时映射，状态监控与运行优化。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53712" y="4114800"/>
            <a:ext cx="877824" cy="402336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/>
        </p:spPr>
      </p:sp>
      <p:sp>
        <p:nvSpPr>
          <p:cNvPr id="21" name="Text 19"/>
          <p:cNvSpPr/>
          <p:nvPr/>
        </p:nvSpPr>
        <p:spPr>
          <a:xfrm>
            <a:off x="4553712" y="4114800"/>
            <a:ext cx="8778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状态监控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53712" y="4617720"/>
            <a:ext cx="877824" cy="402336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/>
        </p:spPr>
      </p:sp>
      <p:sp>
        <p:nvSpPr>
          <p:cNvPr id="23" name="Text 21"/>
          <p:cNvSpPr/>
          <p:nvPr/>
        </p:nvSpPr>
        <p:spPr>
          <a:xfrm>
            <a:off x="4553712" y="4617720"/>
            <a:ext cx="8778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运行优化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055864" y="1691640"/>
            <a:ext cx="3602736" cy="4206240"/>
          </a:xfrm>
          <a:prstGeom prst="roundRect">
            <a:avLst>
              <a:gd name="adj" fmla="val 2030"/>
            </a:avLst>
          </a:prstGeom>
          <a:solidFill>
            <a:srgbClr val="FFFFFF"/>
          </a:solidFill>
          <a:ln w="19050">
            <a:solidFill>
              <a:srgbClr val="15803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55864" y="1691640"/>
            <a:ext cx="3602736" cy="64008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6" name="Text 24"/>
          <p:cNvSpPr/>
          <p:nvPr/>
        </p:nvSpPr>
        <p:spPr>
          <a:xfrm>
            <a:off x="8284464" y="16916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工厂级仿真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330184" y="2560320"/>
            <a:ext cx="30540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生产系统离散事件仿真，覆盖“新建验证 + 存量优化”双场景。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330184" y="3977640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两类场景并重：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330184" y="4361688"/>
            <a:ext cx="1444752" cy="420624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/>
        </p:spPr>
      </p:sp>
      <p:sp>
        <p:nvSpPr>
          <p:cNvPr id="30" name="Text 28"/>
          <p:cNvSpPr/>
          <p:nvPr/>
        </p:nvSpPr>
        <p:spPr>
          <a:xfrm>
            <a:off x="8330184" y="4361688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新建工厂虚拟验证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330184" y="4892040"/>
            <a:ext cx="1161288" cy="420624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/>
        </p:spPr>
      </p:sp>
      <p:sp>
        <p:nvSpPr>
          <p:cNvPr id="32" name="Text 30"/>
          <p:cNvSpPr/>
          <p:nvPr/>
        </p:nvSpPr>
        <p:spPr>
          <a:xfrm>
            <a:off x="8330184" y="4892040"/>
            <a:ext cx="11612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存量产能优化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28016" cy="8686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 · 基线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71323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量化验收基线（签约约束条款）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247120" y="457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6419088"/>
            <a:ext cx="111831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智能数字孪生系统建设项目 · P0 立项评审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783080"/>
            <a:ext cx="3602736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2057400"/>
            <a:ext cx="32369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≤ 0.5</a:t>
            </a:r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mm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685800" y="3154680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几何模型精度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3566160"/>
            <a:ext cx="3236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GB/T 43441.2 / OGG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79392" y="1783080"/>
            <a:ext cx="3602736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462272" y="2057400"/>
            <a:ext cx="32369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58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≤ ±0.5</a:t>
            </a:r>
            <a:pPr algn="ctr" indent="0" marL="0">
              <a:buNone/>
            </a:pPr>
            <a:r>
              <a:rPr lang="en-US" sz="1800" b="1" dirty="0">
                <a:solidFill>
                  <a:srgbClr val="158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%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4462272" y="3154680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仿真误差率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62272" y="3566160"/>
            <a:ext cx="3236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装备 CAE + 工厂级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55864" y="1783080"/>
            <a:ext cx="3602736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38744" y="2057400"/>
            <a:ext cx="32369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≤ 200</a:t>
            </a:r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ms</a:t>
            </a:r>
            <a:endParaRPr lang="en-US" sz="4600" dirty="0"/>
          </a:p>
        </p:txBody>
      </p:sp>
      <p:sp>
        <p:nvSpPr>
          <p:cNvPr id="18" name="Text 16"/>
          <p:cNvSpPr/>
          <p:nvPr/>
        </p:nvSpPr>
        <p:spPr>
          <a:xfrm>
            <a:off x="8238744" y="3154680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虚实同步延迟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38744" y="3566160"/>
            <a:ext cx="3236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GB/T 43441.1 / 数据底座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4526280"/>
            <a:ext cx="11183112" cy="146304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663440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其余指标：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工厂级仿真验收阈值（产能/物流节拍预测误差 ≤X% · 排程达成 ≥Y%）、预测/操控精度、决策一致性 —— 由目标测评等级锁定，P0 末回填。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注：上述 ≤0.5mm / ±0.5% / 200ms 为行业常用标尺，非国标强制数值，最终以官方标准与目标 CESI 测评等级为准。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28016" cy="8686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实施路径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71323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分期建设路线 · P0–P3（18 个月）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247120" y="457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6419088"/>
            <a:ext cx="111831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智能数字孪生系统建设项目 · P0 立项评审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92024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1920240"/>
            <a:ext cx="2651760" cy="7772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92024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737360" y="192024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立项与标准基线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31520" y="27889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Q3 · 1.5月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329184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需求规格 · 国标差距 · 选型清单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035808" y="3246120"/>
            <a:ext cx="402336" cy="402336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15" name="Text 13"/>
          <p:cNvSpPr/>
          <p:nvPr/>
        </p:nvSpPr>
        <p:spPr>
          <a:xfrm>
            <a:off x="3035808" y="3200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319272" y="192024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319272" y="1920240"/>
            <a:ext cx="2651760" cy="7772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8" name="Text 16"/>
          <p:cNvSpPr/>
          <p:nvPr/>
        </p:nvSpPr>
        <p:spPr>
          <a:xfrm>
            <a:off x="3502152" y="192024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553712" y="192024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几何 + 数据底座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547872" y="27889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Q4–27 Q2 · 6月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547872" y="329184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OGG 建模 + IoT 同步 · M1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852160" y="3246120"/>
            <a:ext cx="402336" cy="402336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23" name="Text 21"/>
          <p:cNvSpPr/>
          <p:nvPr/>
        </p:nvSpPr>
        <p:spPr>
          <a:xfrm>
            <a:off x="5852160" y="3200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135624" y="192024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9050">
            <a:solidFill>
              <a:srgbClr val="15803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35624" y="1920240"/>
            <a:ext cx="2651760" cy="77724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6" name="Text 24"/>
          <p:cNvSpPr/>
          <p:nvPr/>
        </p:nvSpPr>
        <p:spPr>
          <a:xfrm>
            <a:off x="6318504" y="192024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P2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7370064" y="192024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仿真 + 智能层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364224" y="27889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8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 Q3–Q4 · 6月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64224" y="329184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CAE/工厂仿真 + Agent · M2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668512" y="3246120"/>
            <a:ext cx="402336" cy="402336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31" name="Text 29"/>
          <p:cNvSpPr/>
          <p:nvPr/>
        </p:nvSpPr>
        <p:spPr>
          <a:xfrm>
            <a:off x="8668512" y="3200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8951976" y="192024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951976" y="1920240"/>
            <a:ext cx="2651760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9134856" y="192024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P3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10186416" y="192024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集成验证 + 测评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9180576" y="27889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2028 Q1 · 4.5月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180576" y="329184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全条款自检 · CESI 认证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02920" y="5257800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关键前提：仿真保真（CAE / 工厂级）、同步保真（IoT）、验证保真（建模验证流程）三块必须按计划补齐，单靠 OGG+Agent 达不到“高保真”。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28016" cy="8686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先试后定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71323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POC 验证安排（仿真引擎选型）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247120" y="457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6419088"/>
            <a:ext cx="111831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智能数字孪生系统建设项目 · P0 立项评审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645920"/>
            <a:ext cx="4206240" cy="429768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1828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验证目标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2286000"/>
            <a:ext cx="3703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范围：Plant Simulation vs AnyLogic 贴合双场景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周期：2–3 周（资源足可压至 2 周）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投入：1 仿真工程师 + 0.5 数据工程师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取“代表性切片”：新建厂代表产线、存量瓶颈工段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只验能力贴合度，不验精度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937760" y="1645920"/>
            <a:ext cx="6748272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212080" y="182880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决策维度（加权 · 7 维）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212080" y="233172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离散事件成熟度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10698480" y="2368296"/>
            <a:ext cx="777240" cy="329184"/>
          </a:xfrm>
          <a:prstGeom prst="roundRect">
            <a:avLst/>
          </a:prstGeom>
          <a:solidFill>
            <a:srgbClr val="EFF6FF"/>
          </a:solidFill>
          <a:ln/>
        </p:spPr>
      </p:sp>
      <p:sp>
        <p:nvSpPr>
          <p:cNvPr id="15" name="Text 13"/>
          <p:cNvSpPr/>
          <p:nvPr/>
        </p:nvSpPr>
        <p:spPr>
          <a:xfrm>
            <a:off x="10698480" y="2368296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20%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212080" y="2752344"/>
            <a:ext cx="62636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0" y="2825496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多方法适配（DES/ABM/SD）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10698480" y="2862072"/>
            <a:ext cx="777240" cy="329184"/>
          </a:xfrm>
          <a:prstGeom prst="roundRect">
            <a:avLst/>
          </a:prstGeom>
          <a:solidFill>
            <a:srgbClr val="EFF6FF"/>
          </a:solidFill>
          <a:ln/>
        </p:spPr>
      </p:sp>
      <p:sp>
        <p:nvSpPr>
          <p:cNvPr id="19" name="Text 17"/>
          <p:cNvSpPr/>
          <p:nvPr/>
        </p:nvSpPr>
        <p:spPr>
          <a:xfrm>
            <a:off x="10698480" y="2862072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15%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212080" y="3246120"/>
            <a:ext cx="62636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2080" y="3319272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MES/ERP 接口能力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10698480" y="3355848"/>
            <a:ext cx="777240" cy="329184"/>
          </a:xfrm>
          <a:prstGeom prst="roundRect">
            <a:avLst/>
          </a:prstGeom>
          <a:solidFill>
            <a:srgbClr val="EFF6FF"/>
          </a:solidFill>
          <a:ln/>
        </p:spPr>
      </p:sp>
      <p:sp>
        <p:nvSpPr>
          <p:cNvPr id="23" name="Text 21"/>
          <p:cNvSpPr/>
          <p:nvPr/>
        </p:nvSpPr>
        <p:spPr>
          <a:xfrm>
            <a:off x="10698480" y="3355848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15%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212080" y="3739896"/>
            <a:ext cx="62636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12080" y="3813048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二次开发开放性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10698480" y="3849624"/>
            <a:ext cx="777240" cy="329184"/>
          </a:xfrm>
          <a:prstGeom prst="roundRect">
            <a:avLst/>
          </a:prstGeom>
          <a:solidFill>
            <a:srgbClr val="EFF6FF"/>
          </a:solidFill>
          <a:ln/>
        </p:spPr>
      </p:sp>
      <p:sp>
        <p:nvSpPr>
          <p:cNvPr id="27" name="Text 25"/>
          <p:cNvSpPr/>
          <p:nvPr/>
        </p:nvSpPr>
        <p:spPr>
          <a:xfrm>
            <a:off x="10698480" y="3849624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15%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212080" y="4233672"/>
            <a:ext cx="62636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12080" y="4306824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3D 可视化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10698480" y="4343400"/>
            <a:ext cx="777240" cy="329184"/>
          </a:xfrm>
          <a:prstGeom prst="roundRect">
            <a:avLst/>
          </a:prstGeom>
          <a:solidFill>
            <a:srgbClr val="EFF6FF"/>
          </a:solidFill>
          <a:ln/>
        </p:spPr>
      </p:sp>
      <p:sp>
        <p:nvSpPr>
          <p:cNvPr id="31" name="Text 29"/>
          <p:cNvSpPr/>
          <p:nvPr/>
        </p:nvSpPr>
        <p:spPr>
          <a:xfrm>
            <a:off x="10698480" y="4343400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10%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212080" y="4727448"/>
            <a:ext cx="62636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12080" y="480060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建模效率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10698480" y="4837176"/>
            <a:ext cx="777240" cy="329184"/>
          </a:xfrm>
          <a:prstGeom prst="roundRect">
            <a:avLst/>
          </a:prstGeom>
          <a:solidFill>
            <a:srgbClr val="EFF6FF"/>
          </a:solidFill>
          <a:ln/>
        </p:spPr>
      </p:sp>
      <p:sp>
        <p:nvSpPr>
          <p:cNvPr id="35" name="Text 33"/>
          <p:cNvSpPr/>
          <p:nvPr/>
        </p:nvSpPr>
        <p:spPr>
          <a:xfrm>
            <a:off x="10698480" y="4837176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10%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212080" y="5221224"/>
            <a:ext cx="62636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12080" y="5294376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10698480" y="5330952"/>
            <a:ext cx="777240" cy="329184"/>
          </a:xfrm>
          <a:prstGeom prst="roundRect">
            <a:avLst/>
          </a:prstGeom>
          <a:solidFill>
            <a:srgbClr val="EFF6FF"/>
          </a:solidFill>
          <a:ln/>
        </p:spPr>
      </p:sp>
      <p:sp>
        <p:nvSpPr>
          <p:cNvPr id="39" name="Text 37"/>
          <p:cNvSpPr/>
          <p:nvPr/>
        </p:nvSpPr>
        <p:spPr>
          <a:xfrm>
            <a:off x="10698480" y="5330952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10%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212080" y="5715000"/>
            <a:ext cx="62636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12080" y="5486400"/>
            <a:ext cx="6263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输出：选型建议回填《P0 基线》第五章；国产替代路线（SimPy/开源自研）作为闭环后个性化候选，非 P0 必做。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28016" cy="8686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风险管控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71323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主要风险与应对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247120" y="457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6419088"/>
            <a:ext cx="111831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智能数字孪生系统建设项目 · P0 立项评审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691640"/>
            <a:ext cx="5431536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196596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!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63040" y="198424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组件 ≠ 合规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265176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OGG+Agent 是构件非系统；须纳入完整系统设计 + CESI 测评认证。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08192" y="1691640"/>
            <a:ext cx="5431536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82512" y="196596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6382512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!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068312" y="198424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工厂级数据粒度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28232" y="265176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存量场景强依赖 MES/ERP/SCADA 接口与历史数据，P1 即规划采集链路。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3840480"/>
            <a:ext cx="5431536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77240" y="411480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!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463040" y="413308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保真指标争议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22960" y="48006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 将量化阈值写入合同验收基线，避免后期验收扯皮。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08192" y="3840480"/>
            <a:ext cx="5431536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382512" y="411480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6382512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!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068312" y="413308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/ 仿真锁定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428232" y="48006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用通用 MAS 接口解耦、仿真引擎按指标选型，规避单一厂商锁定。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28016" cy="8686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 · 决策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71323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待确认项（6 项）与决策点（3 个）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247120" y="457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6419088"/>
            <a:ext cx="111831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智能数字孪生系统建设项目 · P0 立项评审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00200"/>
          <a:ext cx="1118311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840480"/>
                <a:gridCol w="2194560"/>
                <a:gridCol w="2770632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默认设定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确认方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不确认的影响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目标场景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装备+车间+工厂级双场景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业务方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建模与数据范围漂移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保真等级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二级 / 三级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业务方+标准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指标与预算无法锁定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部署形态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私有化 + 边缘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业务方+安全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安全架构与选型返工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工厂级验收阈值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误差 ≤X% · 达成 ≥Y%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业务方+仿真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合同验收条款缺失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预算口径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系统建设 + 测评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决策人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立项金额未定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POC 范围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2–3 周 Plant vs AnyLogic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技术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仿真引擎选型不确定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02920" y="5074920"/>
            <a:ext cx="3602736" cy="1143000"/>
          </a:xfrm>
          <a:prstGeom prst="roundRect">
            <a:avLst>
              <a:gd name="adj" fmla="val 6400"/>
            </a:avLst>
          </a:prstGeom>
          <a:solidFill>
            <a:srgbClr val="0F172A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51937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决策点 A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31520" y="555955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是否通过《P0 需求规格与标准符合性基线》？（通过 → 签署生效）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279392" y="5074920"/>
            <a:ext cx="3602736" cy="1143000"/>
          </a:xfrm>
          <a:prstGeom prst="roundRect">
            <a:avLst>
              <a:gd name="adj" fmla="val 6400"/>
            </a:avLst>
          </a:prstGeom>
          <a:solidFill>
            <a:srgbClr val="0F172A"/>
          </a:solidFill>
          <a:ln/>
        </p:spPr>
      </p:sp>
      <p:sp>
        <p:nvSpPr>
          <p:cNvPr id="13" name="Text 10"/>
          <p:cNvSpPr/>
          <p:nvPr/>
        </p:nvSpPr>
        <p:spPr>
          <a:xfrm>
            <a:off x="4507992" y="51937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决策点 B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07992" y="555955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是否批准启动 P1（几何内核 + 实时数据底座，2026 Q4 起）？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8055864" y="5074920"/>
            <a:ext cx="3602736" cy="1143000"/>
          </a:xfrm>
          <a:prstGeom prst="roundRect">
            <a:avLst>
              <a:gd name="adj" fmla="val 6400"/>
            </a:avLst>
          </a:prstGeom>
          <a:solidFill>
            <a:srgbClr val="0F172A"/>
          </a:solidFill>
          <a:ln/>
        </p:spPr>
      </p:sp>
      <p:sp>
        <p:nvSpPr>
          <p:cNvPr id="16" name="Text 13"/>
          <p:cNvSpPr/>
          <p:nvPr/>
        </p:nvSpPr>
        <p:spPr>
          <a:xfrm>
            <a:off x="8284464" y="51937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决策点 C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284464" y="555955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预算口径是否纳入立项金额？（授权 P0 末完成详细预算分解）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128016" cy="8229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486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签署与下一步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基线签署后即触发 P1（几何内核 + 实时数据底座）。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057400"/>
            <a:ext cx="11183112" cy="868680"/>
          </a:xfrm>
          <a:prstGeom prst="roundRect">
            <a:avLst>
              <a:gd name="adj" fmla="val 631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05740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业务方负责人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754880" y="205740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签字：________________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595360" y="205740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日期：________________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3044952"/>
            <a:ext cx="11183112" cy="868680"/>
          </a:xfrm>
          <a:prstGeom prst="roundRect">
            <a:avLst>
              <a:gd name="adj" fmla="val 631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04495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技术负责人 / 架构师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54880" y="304495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签字：________________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595360" y="3044952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日期：________________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4032504"/>
            <a:ext cx="11183112" cy="868680"/>
          </a:xfrm>
          <a:prstGeom prst="roundRect">
            <a:avLst>
              <a:gd name="adj" fmla="val 631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032504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 / 测评负责人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54880" y="4032504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签字：________________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595360" y="4032504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日期：________________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5020056"/>
            <a:ext cx="11183112" cy="868680"/>
          </a:xfrm>
          <a:prstGeom prst="roundRect">
            <a:avLst>
              <a:gd name="adj" fmla="val 631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5020056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项目决策人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754880" y="5020056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签字：________________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595360" y="5020056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日期：________________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" y="6355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智能数字孪生系统建设项目 · P0 立项评审 · 2026-08-07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智能数字孪生系统建设 P0 评审</dc:title>
  <dc:subject>PptxGenJS Presentation</dc:subject>
  <dc:creator>杜玉河</dc:creator>
  <cp:lastModifiedBy>杜玉河</cp:lastModifiedBy>
  <cp:revision>1</cp:revision>
  <dcterms:created xsi:type="dcterms:W3CDTF">2026-08-07T00:20:00Z</dcterms:created>
  <dcterms:modified xsi:type="dcterms:W3CDTF">2026-08-07T00:20:00Z</dcterms:modified>
</cp:coreProperties>
</file>